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53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920240"/>
            <a:ext cx="8979408" cy="45720"/>
          </a:xfrm>
          <a:prstGeom prst="rect">
            <a:avLst/>
          </a:prstGeom>
          <a:solidFill>
            <a:srgbClr val="24A8A1"/>
          </a:solidFill>
          <a:ln w="12700">
            <a:solidFill>
              <a:srgbClr val="24A8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Fake News Detection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208483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756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670048"/>
            <a:ext cx="4389120" cy="1691640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432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Sarayu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 Priyanka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Varshitha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44805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Nos: 2410080080 | 2410080005 | 2410080060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1B7F79">
              <a:alpha val="18000"/>
            </a:srgbClr>
          </a:solidFill>
          <a:ln w="12700">
            <a:solidFill>
              <a:srgbClr val="1B7F79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65760"/>
            <a:ext cx="1828800" cy="1828800"/>
          </a:xfrm>
          <a:prstGeom prst="ellipse">
            <a:avLst/>
          </a:prstGeom>
          <a:solidFill>
            <a:srgbClr val="24A8A1">
              <a:alpha val="25000"/>
            </a:srgbClr>
          </a:solidFill>
          <a:ln w="12700">
            <a:solidFill>
              <a:srgbClr val="24A8A1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4864" cy="56692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10512"/>
            <a:ext cx="3977640" cy="566928"/>
          </a:xfrm>
          <a:prstGeom prst="rect">
            <a:avLst/>
          </a:prstGeom>
          <a:solidFill>
            <a:srgbClr val="EBF4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2880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Objectives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54864" cy="56692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523744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54203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Proposed Solution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54864" cy="56692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236976"/>
            <a:ext cx="3977640" cy="566928"/>
          </a:xfrm>
          <a:prstGeom prst="rect">
            <a:avLst/>
          </a:prstGeom>
          <a:solidFill>
            <a:srgbClr val="EBF4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25526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System Architecture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236976"/>
            <a:ext cx="54864" cy="56692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950208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96849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Technologies Used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950208"/>
            <a:ext cx="54864" cy="56692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097280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11556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Dataset &amp; Model Evaluation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54864" cy="566928"/>
          </a:xfrm>
          <a:prstGeom prst="rect">
            <a:avLst/>
          </a:prstGeom>
          <a:solidFill>
            <a:srgbClr val="24A8A1"/>
          </a:solidFill>
          <a:ln w="12700">
            <a:solidFill>
              <a:srgbClr val="24A8A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810512"/>
            <a:ext cx="3977640" cy="566928"/>
          </a:xfrm>
          <a:prstGeom prst="rect">
            <a:avLst/>
          </a:prstGeom>
          <a:solidFill>
            <a:srgbClr val="EBF4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182880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Output Demonstration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810512"/>
            <a:ext cx="54864" cy="566928"/>
          </a:xfrm>
          <a:prstGeom prst="rect">
            <a:avLst/>
          </a:prstGeom>
          <a:solidFill>
            <a:srgbClr val="24A8A1"/>
          </a:solidFill>
          <a:ln w="12700">
            <a:solidFill>
              <a:srgbClr val="24A8A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523744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254203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Results, Limitations &amp; Future Scope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2523744"/>
            <a:ext cx="54864" cy="566928"/>
          </a:xfrm>
          <a:prstGeom prst="rect">
            <a:avLst/>
          </a:prstGeom>
          <a:solidFill>
            <a:srgbClr val="24A8A1"/>
          </a:solidFill>
          <a:ln w="12700">
            <a:solidFill>
              <a:srgbClr val="24A8A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236976"/>
            <a:ext cx="3977640" cy="566928"/>
          </a:xfrm>
          <a:prstGeom prst="rect">
            <a:avLst/>
          </a:prstGeom>
          <a:solidFill>
            <a:srgbClr val="EBF4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325526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Applications &amp; Real-World Impact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3236976"/>
            <a:ext cx="54864" cy="566928"/>
          </a:xfrm>
          <a:prstGeom prst="rect">
            <a:avLst/>
          </a:prstGeom>
          <a:solidFill>
            <a:srgbClr val="24A8A1"/>
          </a:solidFill>
          <a:ln w="12700">
            <a:solidFill>
              <a:srgbClr val="24A8A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950208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396849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Conclusion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3950208"/>
            <a:ext cx="54864" cy="566928"/>
          </a:xfrm>
          <a:prstGeom prst="rect">
            <a:avLst/>
          </a:prstGeom>
          <a:solidFill>
            <a:srgbClr val="24A8A1"/>
          </a:solidFill>
          <a:ln w="12700">
            <a:solidFill>
              <a:srgbClr val="24A8A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548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15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Rapid Spread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50876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spreads virally through social media platforms before verification can occur.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4114800" cy="548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115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Low Verification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73752" y="150876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share news without checking authenticity, amplifying misinformation.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34640"/>
            <a:ext cx="4114800" cy="548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9443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Slow Manual Checks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" y="333756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fact-checking is time-consuming and cannot keep up with viral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8346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834640"/>
            <a:ext cx="4114800" cy="548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9443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Need for Automation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73752" y="333756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automated system is required to detect fake news at scale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38912" cy="5760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38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987552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 model to classify news as Real or Fake with high accuracy.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595360" cy="576072"/>
          </a:xfrm>
          <a:prstGeom prst="rect">
            <a:avLst/>
          </a:prstGeom>
          <a:solidFill>
            <a:srgbClr val="EBF4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27632"/>
            <a:ext cx="438912" cy="5760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27632"/>
            <a:ext cx="438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1655064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NLP preprocessing techniques to clean and prepare text data effectively.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295144"/>
            <a:ext cx="8595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95144"/>
            <a:ext cx="438912" cy="5760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295144"/>
            <a:ext cx="438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322576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TF-IDF feature extraction to convert text into numerical representations.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8595360" cy="576072"/>
          </a:xfrm>
          <a:prstGeom prst="rect">
            <a:avLst/>
          </a:prstGeom>
          <a:solidFill>
            <a:srgbClr val="EBF4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62656"/>
            <a:ext cx="438912" cy="5760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962656"/>
            <a:ext cx="438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2990088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classification models (Logistic Regression, Naive Bayes).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630168"/>
            <a:ext cx="8595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30168"/>
            <a:ext cx="438912" cy="5760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630168"/>
            <a:ext cx="438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3657600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users with a credibility score, Real/Fake label, and fact-check links.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4297680"/>
            <a:ext cx="8595360" cy="576072"/>
          </a:xfrm>
          <a:prstGeom prst="rect">
            <a:avLst/>
          </a:prstGeom>
          <a:solidFill>
            <a:srgbClr val="EBF4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297680"/>
            <a:ext cx="438912" cy="5760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297680"/>
            <a:ext cx="438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4325112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≥ 90% accuracy on the benchmark Kaggle Fake News Dataset.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52144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52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704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or types news article content into the web-based interface.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828800"/>
            <a:ext cx="201168" cy="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1152144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152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11704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6276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cleaned, tokenized, stopwords removed, and lemmatized.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1828800"/>
            <a:ext cx="201168" cy="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152144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152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11704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6208" y="16276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converted into numerical feature vectors for the ML model.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26080"/>
            <a:ext cx="2743200" cy="548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072384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3090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4048" y="354787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/ Naive Bayes model predicts Real or Fake.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17520" y="3749040"/>
            <a:ext cx="201168" cy="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0128" y="3072384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794760" y="3090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Score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10128" y="354787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outputs a confidence score (e.g., 87% Fake) for the input.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0" y="3749040"/>
            <a:ext cx="201168" cy="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926080"/>
            <a:ext cx="2743200" cy="548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3072384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20840" y="3090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Links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36208" y="354787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fact-check references are shown to help users verify.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" y="1097280"/>
            <a:ext cx="1554480" cy="32918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" y="2084832"/>
            <a:ext cx="1280160" cy="18288"/>
          </a:xfrm>
          <a:prstGeom prst="rect">
            <a:avLst/>
          </a:prstGeom>
          <a:solidFill>
            <a:srgbClr val="AADDDD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219456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 text from user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11096" y="2743200"/>
            <a:ext cx="164592" cy="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75688" y="1097280"/>
            <a:ext cx="1554480" cy="3291840"/>
          </a:xfrm>
          <a:prstGeom prst="rect">
            <a:avLst/>
          </a:prstGeom>
          <a:solidFill>
            <a:srgbClr val="1A6E8E"/>
          </a:solidFill>
          <a:ln w="12700">
            <a:solidFill>
              <a:srgbClr val="1A6E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75688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75688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12848" y="2084832"/>
            <a:ext cx="1280160" cy="18288"/>
          </a:xfrm>
          <a:prstGeom prst="rect">
            <a:avLst/>
          </a:prstGeom>
          <a:solidFill>
            <a:srgbClr val="AADDDD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67128" y="219456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→ Remove Punctuation → Stopword Removal → Lemmatization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30168" y="2743200"/>
            <a:ext cx="164592" cy="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1097280"/>
            <a:ext cx="1554480" cy="3291840"/>
          </a:xfrm>
          <a:prstGeom prst="rect">
            <a:avLst/>
          </a:prstGeom>
          <a:solidFill>
            <a:srgbClr val="17538A"/>
          </a:solidFill>
          <a:ln w="12700">
            <a:solidFill>
              <a:srgbClr val="1753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9476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94760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31920" y="2084832"/>
            <a:ext cx="1280160" cy="18288"/>
          </a:xfrm>
          <a:prstGeom prst="rect">
            <a:avLst/>
          </a:prstGeom>
          <a:solidFill>
            <a:srgbClr val="AADDDD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219456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2743200"/>
            <a:ext cx="164592" cy="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13832" y="1097280"/>
            <a:ext cx="1554480" cy="32918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13832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13832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50992" y="2084832"/>
            <a:ext cx="1280160" cy="18288"/>
          </a:xfrm>
          <a:prstGeom prst="rect">
            <a:avLst/>
          </a:prstGeom>
          <a:solidFill>
            <a:srgbClr val="AADDDD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05272" y="219456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/ Naive Bayes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68312" y="2743200"/>
            <a:ext cx="164592" cy="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32904" y="1097280"/>
            <a:ext cx="1554480" cy="32918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32904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32904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70064" y="2084832"/>
            <a:ext cx="1280160" cy="18288"/>
          </a:xfrm>
          <a:prstGeom prst="rect">
            <a:avLst/>
          </a:prstGeom>
          <a:solidFill>
            <a:srgbClr val="C0950A"/>
          </a:solidFill>
          <a:ln w="12700">
            <a:solidFill>
              <a:srgbClr val="C095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24344" y="219456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 Fake Prediction + Credibility Score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94560" y="1143000"/>
            <a:ext cx="713232" cy="25603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1430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117043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" y="1554480"/>
            <a:ext cx="2423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6459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ML pipeline &amp; scripting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1143000"/>
            <a:ext cx="713232" cy="256032"/>
          </a:xfrm>
          <a:prstGeom prst="rect">
            <a:avLst/>
          </a:prstGeom>
          <a:solidFill>
            <a:srgbClr val="1A6E8E"/>
          </a:solidFill>
          <a:ln w="12700">
            <a:solidFill>
              <a:srgbClr val="1A6E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1430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64992" y="117043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64992" y="1554480"/>
            <a:ext cx="2423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6459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cleaning, and manipulation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143000"/>
            <a:ext cx="713232" cy="256032"/>
          </a:xfrm>
          <a:prstGeom prst="rect">
            <a:avLst/>
          </a:prstGeom>
          <a:solidFill>
            <a:srgbClr val="1A6E8E"/>
          </a:solidFill>
          <a:ln w="12700">
            <a:solidFill>
              <a:srgbClr val="1A6E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11430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91072" y="117043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91072" y="1554480"/>
            <a:ext cx="2423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6459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 and array operations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194560" y="3063240"/>
            <a:ext cx="713232" cy="25603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30632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" y="30906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38912" y="3474720"/>
            <a:ext cx="2423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5661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algorithms: Logistic Regression, Naive Bayes, metrics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120640" y="3063240"/>
            <a:ext cx="713232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0632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64992" y="30906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/ spaCy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364992" y="3474720"/>
            <a:ext cx="2423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5661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preprocessing: tokenization, stopwords, lemmatization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2648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46720" y="3063240"/>
            <a:ext cx="713232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30632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91072" y="30906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91072" y="3474720"/>
            <a:ext cx="2423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35661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development, visualization, and model experimentation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 Evaluation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548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Used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Source: Kaggle Fake News Dataset</a:t>
            </a:r>
            <a:endParaRPr lang="en-US" sz="125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Columns: title, text, label</a:t>
            </a:r>
            <a:endParaRPr lang="en-US" sz="125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Classes: REAL / FAKE (binary)</a:t>
            </a:r>
            <a:endParaRPr lang="en-US" sz="125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Split: 80% Train / 20% Test</a:t>
            </a:r>
            <a:endParaRPr lang="en-US" sz="125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Preprocessing: NLTK pipeline</a:t>
            </a:r>
            <a:endParaRPr lang="en-US" sz="125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Vectorization: TF-IDF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20624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789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&amp; Results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72768"/>
          <a:ext cx="4023360" cy="30175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Demonstration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1005840"/>
            <a:ext cx="33832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1005840"/>
            <a:ext cx="3383280" cy="548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0789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577840" y="1581912"/>
            <a:ext cx="3108960" cy="694944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1609344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🏷️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53328" y="16093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Real/Fake Label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53328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result displayed prominently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77840" y="2368296"/>
            <a:ext cx="31089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2395728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53328" y="2395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Score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53328" y="261518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0–100% trustworthiness score for the news content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77840" y="3154680"/>
            <a:ext cx="3108960" cy="694944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3182112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53328" y="31821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Links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53328" y="34015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external links for manual verification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577840" y="3941064"/>
            <a:ext cx="31089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23560" y="3968496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53328" y="39684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53328" y="41879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delivered in under 2 seconds per article</a:t>
            </a:r>
            <a:endParaRPr lang="en-US" sz="1050" dirty="0"/>
          </a:p>
        </p:txBody>
      </p:sp>
      <p:pic>
        <p:nvPicPr>
          <p:cNvPr id="41" name="Picture 40" descr="The image displays a prediction with a 92% confidence level, indicating that there is a 92% likelihood that the subject is fake, with only 8% being real.">
            <a:extLst>
              <a:ext uri="{FF2B5EF4-FFF2-40B4-BE49-F238E27FC236}">
                <a16:creationId xmlns:a16="http://schemas.microsoft.com/office/drawing/2014/main" id="{B9AF8FA2-1645-8319-26A0-4868FB744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41337"/>
            <a:ext cx="4591594" cy="40350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Limitations &amp; Future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Results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Successfully classifies fake &amp; real news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Logistic Regression: 92% accuracy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Good Precision, Recall and F1-Score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Fast inference speed (&lt;2 seconds)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" y="1709928"/>
            <a:ext cx="109728" cy="109728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2350008"/>
            <a:ext cx="109728" cy="109728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2990088"/>
            <a:ext cx="109728" cy="109728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3630168"/>
            <a:ext cx="109728" cy="109728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051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1581912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Struggles with sarcasm &amp; satire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Sensitive to dataset quality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English-only support currently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real-time API integration yet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10712" y="1709928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2350008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10712" y="2990088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10712" y="3630168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960120"/>
            <a:ext cx="2743200" cy="54864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051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Scope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1581912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LSTM / BERT deep learning models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Multilingual news detection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Browser extension integration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 news API ingestion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82512" y="1709928"/>
            <a:ext cx="109728" cy="109728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2350008"/>
            <a:ext cx="109728" cy="109728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82512" y="2990088"/>
            <a:ext cx="109728" cy="109728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82512" y="3630168"/>
            <a:ext cx="109728" cy="109728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Real-World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16916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Filtering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fake posts before they go viral on platforms like X, Facebook.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54864" cy="16916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1143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Newsroom Verification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66420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 can quickly cross-check sources and articles for authenticity.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05840"/>
            <a:ext cx="54864" cy="16916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1143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66420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and teachers identify misinformation in academic content.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54864" cy="16916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3063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Monitoring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58444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political misinformation and detect state-sponsored fake news.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26080"/>
            <a:ext cx="54864" cy="16916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40480" y="3063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Extension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358444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Extendable to detect fake news in multiple languages globally.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2648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926080"/>
            <a:ext cx="54864" cy="16916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66560" y="3063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&amp; Propaganda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63640" y="358444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can detect email spam, hate speech, propaganda.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321040" cy="749808"/>
          </a:xfrm>
          <a:prstGeom prst="rect">
            <a:avLst/>
          </a:prstGeom>
          <a:solidFill>
            <a:srgbClr val="122030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70432"/>
            <a:ext cx="320040" cy="32004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ML pipeline to classify news as Real or Fake using supervised learning.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321040" cy="749808"/>
          </a:xfrm>
          <a:prstGeom prst="rect">
            <a:avLst/>
          </a:prstGeom>
          <a:solidFill>
            <a:srgbClr val="122030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039112"/>
            <a:ext cx="320040" cy="32004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96596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NLP preprocessing (tokenization, stopword removal, lemmatization) and TF-IDF features.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8321040" cy="749808"/>
          </a:xfrm>
          <a:prstGeom prst="rect">
            <a:avLst/>
          </a:prstGeom>
          <a:solidFill>
            <a:srgbClr val="122030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907792"/>
            <a:ext cx="320040" cy="32004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83464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92% accuracy with Logistic Regression on the Kaggle Fake News Dataset.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321040" cy="749808"/>
          </a:xfrm>
          <a:prstGeom prst="rect">
            <a:avLst/>
          </a:prstGeom>
          <a:solidFill>
            <a:srgbClr val="122030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776472"/>
            <a:ext cx="320040" cy="32004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76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70332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how AI can serve as a scalable solution to combat online misinformation.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617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Project Ready for Submission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1B7F79">
              <a:alpha val="15000"/>
            </a:srgbClr>
          </a:solidFill>
          <a:ln w="12700">
            <a:solidFill>
              <a:srgbClr val="1B7F7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24A8A1">
              <a:alpha val="15000"/>
            </a:srgbClr>
          </a:solidFill>
          <a:ln w="12700">
            <a:solidFill>
              <a:srgbClr val="24A8A1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Fake News Detection Using Machine Learning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2670048"/>
            <a:ext cx="2743200" cy="3657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Sarayu  |  Deepthi Priyanka  |  Varshitha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2410080080  |  2410080005  |  2410080060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4114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828</Words>
  <Application>Microsoft Office PowerPoint</Application>
  <PresentationFormat>On-screen Show (16:9)</PresentationFormat>
  <Paragraphs>202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Fake News Detection - Final Review</dc:title>
  <dc:subject>PptxGenJS Presentation</dc:subject>
  <dc:creator>PptxGenJS</dc:creator>
  <cp:lastModifiedBy>Varshitha Bhumireddy</cp:lastModifiedBy>
  <cp:revision>2</cp:revision>
  <dcterms:created xsi:type="dcterms:W3CDTF">2026-04-12T08:01:51Z</dcterms:created>
  <dcterms:modified xsi:type="dcterms:W3CDTF">2026-04-12T08:08:49Z</dcterms:modified>
</cp:coreProperties>
</file>